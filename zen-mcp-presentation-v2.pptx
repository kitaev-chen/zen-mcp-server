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19064" y="461070"/>
            <a:ext cx="6505873" cy="42213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Zen MCP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Many Workflows. One Context.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Your CLI + Multiple Models = Your AI Dev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827014" y="1377404"/>
            <a:ext cx="5489972" cy="7048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Zen MCP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827014" y="2387054"/>
            <a:ext cx="5489972" cy="3524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Workflows. One Context.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827014" y="3145780"/>
            <a:ext cx="5489972" cy="1028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CLI + Multiple Models = Your AI Dev Team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179439" y="3526780"/>
            <a:ext cx="4832747" cy="266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CLI + Multiple Models = Your AI Dev Team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19064" y="461070"/>
            <a:ext cx="6505873" cy="422136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7014" y="3145780"/>
            <a:ext cx="5489972" cy="10287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8382000" cy="438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项目概述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Zen MCP 是一个 Model Context Protocol (MCP) 服务器，超级增强您喜爱的 AI 工具，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支持多模型协作、上下文管理和智能工作流程编排。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•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多模型集成：Gemini、OpenAI、Claude、Grok、Azure 等统一接入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•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智能编排：自动模型选择和任务路由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•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上下文管理：对话连续性和上下文复兴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•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专业工作流：代码审查、调试、规划等完整工具链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7525" y="1223814"/>
            <a:ext cx="7308949" cy="857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项目概述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7525" y="2385864"/>
            <a:ext cx="7308949" cy="7313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Zen MCP 是一个 Model Context Protocol (MCP) 服务器，超级增强您喜爱的 AI 工具，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支持多模型协作、上下文管理和智能工作流程编排。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7525" y="3371106"/>
            <a:ext cx="7308949" cy="22985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多模型集成：Gemini、OpenAI、Claude、Grok、Azure 等统一接入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•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智能编排：自动模型选择和任务路由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•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上下文管理：对话连续性和上下文复兴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•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专业工作流：代码审查、调试、规划等完整工具链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47626" y="3625007"/>
            <a:ext cx="6724948" cy="2952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多模型集成：Gemini、OpenAI、Claude、Grok、Azure 等统一接入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47626" y="4072682"/>
            <a:ext cx="6724948" cy="2952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智能编排：自动模型选择和任务路由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47626" y="4520357"/>
            <a:ext cx="6724948" cy="2952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上下文管理：对话连续性和上下文复兴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47626" y="4968032"/>
            <a:ext cx="6724948" cy="2952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专业工作流：代码审查、调试、规划等完整工具链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000" y="381000"/>
            <a:ext cx="8382000" cy="438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7525" y="3371106"/>
            <a:ext cx="7308949" cy="2298502"/>
          </a:xfrm>
          <a:prstGeom prst="rect">
            <a:avLst/>
          </a:prstGeom>
          <a:solidFill>
            <a:srgbClr val="F8F9F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47626" y="3625007"/>
            <a:ext cx="6724948" cy="29527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47626" y="4072682"/>
            <a:ext cx="6724948" cy="29527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47626" y="4520357"/>
            <a:ext cx="6724948" cy="29527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47626" y="4968032"/>
            <a:ext cx="6724948" cy="29527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8382000" cy="438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核心价值主张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🤝 多模型协作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突破单一模型的局限，获得不同 AI 专家的视角和建议，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实现真正的协作智能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🧠 上下文连续性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保持对话连续性，模型间传递思考过程，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让每个专家了解完整背景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⚡ 智能编排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自动为每个任务选择最适合的模型，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实现效率与质量的最佳平衡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🛠️ 专业工作流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内置代码审查、调试、规划等专业工具链，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让每个开发环节都有AI 助手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88950" y="1161157"/>
            <a:ext cx="7366099" cy="5810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核心价值主张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8950" y="2123182"/>
            <a:ext cx="7366099" cy="35559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多模型协作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突破单一模型的局限，获得不同 AI 专家的视角和建议，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实现真正的协作智能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🧠 上下文连续性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保持对话连续性，模型间传递思考过程，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让每个专家了解完整背景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⚡ 智能编排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自动为每个任务选择最适合的模型，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实现效率与质量的最佳平衡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🛠️ 专业工作流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内置代码审查、调试、规划等专业工具链，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让每个开发环节都有AI 助手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88950" y="2123182"/>
            <a:ext cx="3492550" cy="1905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多模型协作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突破单一模型的局限，获得不同 AI 专家的视角和建议，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实现真正的协作智能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06401" y="2440632"/>
            <a:ext cx="2857649" cy="3714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多模型协作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06401" y="2964507"/>
            <a:ext cx="2857649" cy="74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突破单一模型的局限，获得不同 AI 专家的视角和建议，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实现真正的协作智能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62500" y="2123182"/>
            <a:ext cx="3492550" cy="1905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上下文连续性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保持对话连续性，模型间传递思考过程，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让每个专家了解完整背景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79950" y="2565053"/>
            <a:ext cx="2857649" cy="3714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上下文连续性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79950" y="3088928"/>
            <a:ext cx="2857649" cy="4979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保持对话连续性，模型间传递思考过程，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让每个专家了解完整背景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88950" y="4409926"/>
            <a:ext cx="3492550" cy="16567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智能编排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自动为每个任务选择最适合的模型，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实现效率与质量的最佳平衡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06401" y="4727377"/>
            <a:ext cx="2857649" cy="3714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智能编排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06401" y="5251252"/>
            <a:ext cx="2857649" cy="4979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自动为每个任务选择最适合的模型，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实现效率与质量的最佳平衡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62500" y="4409926"/>
            <a:ext cx="3492550" cy="16567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 专业工作流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内置代码审查、调试、规划等专业工具链，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让每个开发环节都有AI 助手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79950" y="4727377"/>
            <a:ext cx="2857649" cy="3714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 专业工作流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079950" y="5251252"/>
            <a:ext cx="2857649" cy="4979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内置代码审查、调试、规划等专业工具链，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让每个开发环节都有AI 助手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81000" y="381000"/>
            <a:ext cx="8382000" cy="438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8950" y="2123182"/>
            <a:ext cx="7366099" cy="355595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8950" y="2123182"/>
            <a:ext cx="3492550" cy="190574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06401" y="2440632"/>
            <a:ext cx="2857649" cy="37147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06401" y="2964507"/>
            <a:ext cx="2857649" cy="74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62500" y="2123182"/>
            <a:ext cx="3492550" cy="190574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79950" y="2565053"/>
            <a:ext cx="2857649" cy="37147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79950" y="3088928"/>
            <a:ext cx="2857649" cy="49797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8950" y="4409926"/>
            <a:ext cx="3492550" cy="165675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06401" y="4727377"/>
            <a:ext cx="2857649" cy="37147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06401" y="5251252"/>
            <a:ext cx="2857649" cy="49797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62500" y="4409926"/>
            <a:ext cx="3492550" cy="165675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79950" y="4727377"/>
            <a:ext cx="2857649" cy="37147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79950" y="5251252"/>
            <a:ext cx="2857649" cy="49797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8382000" cy="438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技术架构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应用层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Claude Code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Gemini CLI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Codex CLI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Cursor / VS Code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接口层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MCP 协议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工具注册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上下文管理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工作流编排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编排层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模型路由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智能选择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会话管理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clink 桥接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模型层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OpenAI (GPT-5, O3)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Gemini (2.5 Pro)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Anthropic Claude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本地模型 (Ollama)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1000125"/>
            <a:ext cx="7620000" cy="5143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技术架构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768376"/>
            <a:ext cx="7620000" cy="40639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Claude Code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Gemini CLI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Codex CLI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Cursor / VS Code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接口层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MCP 协议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工具注册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上下文管理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工作流编排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编排层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模型路由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智能选择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会话管理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clink 桥接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模型层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OpenAI (GPT-5, O3)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Gemini (2.5 Pro)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Anthropic Claude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本地模型 (Ollama)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62000" y="1768376"/>
            <a:ext cx="1676400" cy="25672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Claude Code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Gemini CLI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Codex CLI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Cursor / VS Code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→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2000" y="1768376"/>
            <a:ext cx="1676400" cy="549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508052"/>
            <a:ext cx="1676400" cy="17261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Gemini CLI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Codex CLI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Cursor / VS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2508052"/>
            <a:ext cx="1676400" cy="3554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2000" y="2964954"/>
            <a:ext cx="1676400" cy="3554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CLI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2000" y="3421856"/>
            <a:ext cx="1676400" cy="3554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 CLI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62000" y="3878759"/>
            <a:ext cx="1676400" cy="3554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/ VS Code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24100" y="2875806"/>
            <a:ext cx="304800" cy="3524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743200" y="1768376"/>
            <a:ext cx="1676400" cy="27577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接口层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MCP 协议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工具注册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上下文管理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工作流编排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→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1768376"/>
            <a:ext cx="1676400" cy="549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接口层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743200" y="2508052"/>
            <a:ext cx="1676400" cy="19166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协议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工具注册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上下文管理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工作流编排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0" y="2508052"/>
            <a:ext cx="1676400" cy="4030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协议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0" y="3012579"/>
            <a:ext cx="1676400" cy="4030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工具注册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0" y="3517106"/>
            <a:ext cx="1676400" cy="4030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上下文管理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0" y="4021634"/>
            <a:ext cx="1676400" cy="4030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工作流编排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05300" y="2971056"/>
            <a:ext cx="304800" cy="3524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724400" y="1768376"/>
            <a:ext cx="1676400" cy="27577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编排层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模型路由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智能选择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会话管理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clink 桥接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→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24400" y="1768376"/>
            <a:ext cx="1676400" cy="549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编排层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24400" y="2508052"/>
            <a:ext cx="1676400" cy="19166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模型路由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智能选择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会话管理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clink 桥接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24400" y="2508052"/>
            <a:ext cx="1676400" cy="4030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模型路由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24400" y="3012579"/>
            <a:ext cx="1676400" cy="4030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智能选择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24400" y="3517106"/>
            <a:ext cx="1676400" cy="4030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会话管理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24400" y="4021634"/>
            <a:ext cx="1676400" cy="4030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clink 桥接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86500" y="2971056"/>
            <a:ext cx="304800" cy="3524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705600" y="1768376"/>
            <a:ext cx="1676400" cy="26149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OpenAI (GPT-5, O3)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Gemini (2.5 Pro)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Anthropic Claude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本地模型 (Ollama)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05600" y="1768376"/>
            <a:ext cx="1676400" cy="549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模型层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705600" y="2508052"/>
            <a:ext cx="1676400" cy="17737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(GPT-5, O3)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Gemini (2.5 Pro)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Anthropic Claude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本地模型 (Ollama)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05600" y="2508052"/>
            <a:ext cx="1676400" cy="3554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(GPT-5, O3)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705600" y="2964954"/>
            <a:ext cx="1676400" cy="3554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(2.5 Pro)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05600" y="3421856"/>
            <a:ext cx="1676400" cy="3554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Claude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705600" y="3878759"/>
            <a:ext cx="1676400" cy="4030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本地模型 (Ollama)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81000" y="381000"/>
            <a:ext cx="8382000" cy="438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2000" y="1768376"/>
            <a:ext cx="7620000" cy="406390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2000" y="1768376"/>
            <a:ext cx="1676400" cy="2567285"/>
          </a:xfrm>
          <a:prstGeom prst="rect">
            <a:avLst/>
          </a:prstGeom>
          <a:solidFill>
            <a:srgbClr val="B165F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2000" y="1768376"/>
            <a:ext cx="1676400" cy="54917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2000" y="2508052"/>
            <a:ext cx="1676400" cy="172610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2000" y="2508052"/>
            <a:ext cx="1676400" cy="355402"/>
          </a:xfrm>
          <a:prstGeom prst="rect">
            <a:avLst/>
          </a:prstGeom>
          <a:solidFill>
            <a:srgbClr val="F8F9F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2000" y="2964954"/>
            <a:ext cx="1676400" cy="355402"/>
          </a:xfrm>
          <a:prstGeom prst="rect">
            <a:avLst/>
          </a:prstGeom>
          <a:solidFill>
            <a:srgbClr val="F8F9F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62000" y="3421856"/>
            <a:ext cx="1676400" cy="355402"/>
          </a:xfrm>
          <a:prstGeom prst="rect">
            <a:avLst/>
          </a:prstGeom>
          <a:solidFill>
            <a:srgbClr val="F8F9F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62000" y="3878759"/>
            <a:ext cx="1676400" cy="355402"/>
          </a:xfrm>
          <a:prstGeom prst="rect">
            <a:avLst/>
          </a:prstGeom>
          <a:solidFill>
            <a:srgbClr val="F8F9F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324100" y="2875806"/>
            <a:ext cx="304800" cy="35242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743200" y="1768376"/>
            <a:ext cx="1676400" cy="275778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43200" y="1768376"/>
            <a:ext cx="1676400" cy="54917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43200" y="2508052"/>
            <a:ext cx="1676400" cy="191660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0" y="2508052"/>
            <a:ext cx="1676400" cy="403027"/>
          </a:xfrm>
          <a:prstGeom prst="rect">
            <a:avLst/>
          </a:prstGeom>
          <a:solidFill>
            <a:srgbClr val="F8F9F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743200" y="3012579"/>
            <a:ext cx="1676400" cy="403027"/>
          </a:xfrm>
          <a:prstGeom prst="rect">
            <a:avLst/>
          </a:prstGeom>
          <a:solidFill>
            <a:srgbClr val="F8F9F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743200" y="3517106"/>
            <a:ext cx="1676400" cy="403027"/>
          </a:xfrm>
          <a:prstGeom prst="rect">
            <a:avLst/>
          </a:prstGeom>
          <a:solidFill>
            <a:srgbClr val="F8F9F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743200" y="4021634"/>
            <a:ext cx="1676400" cy="403027"/>
          </a:xfrm>
          <a:prstGeom prst="rect">
            <a:avLst/>
          </a:prstGeom>
          <a:solidFill>
            <a:srgbClr val="F8F9F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305300" y="2971056"/>
            <a:ext cx="304800" cy="35242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24400" y="1768376"/>
            <a:ext cx="1676400" cy="2757785"/>
          </a:xfrm>
          <a:prstGeom prst="rect">
            <a:avLst/>
          </a:prstGeom>
          <a:solidFill>
            <a:srgbClr val="F1C40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24400" y="1768376"/>
            <a:ext cx="1676400" cy="54917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724400" y="2508052"/>
            <a:ext cx="1676400" cy="191660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724400" y="2508052"/>
            <a:ext cx="1676400" cy="403027"/>
          </a:xfrm>
          <a:prstGeom prst="rect">
            <a:avLst/>
          </a:prstGeom>
          <a:solidFill>
            <a:srgbClr val="F8F9F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24400" y="3012579"/>
            <a:ext cx="1676400" cy="403027"/>
          </a:xfrm>
          <a:prstGeom prst="rect">
            <a:avLst/>
          </a:prstGeom>
          <a:solidFill>
            <a:srgbClr val="F8F9F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24400" y="3517106"/>
            <a:ext cx="1676400" cy="403027"/>
          </a:xfrm>
          <a:prstGeom prst="rect">
            <a:avLst/>
          </a:prstGeom>
          <a:solidFill>
            <a:srgbClr val="F8F9F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24400" y="4021634"/>
            <a:ext cx="1676400" cy="403027"/>
          </a:xfrm>
          <a:prstGeom prst="rect">
            <a:avLst/>
          </a:prstGeom>
          <a:solidFill>
            <a:srgbClr val="F8F9F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286500" y="2971056"/>
            <a:ext cx="304800" cy="35242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05600" y="1768376"/>
            <a:ext cx="1676400" cy="2614910"/>
          </a:xfrm>
          <a:prstGeom prst="rect">
            <a:avLst/>
          </a:prstGeom>
          <a:solidFill>
            <a:srgbClr val="181B2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705600" y="1768376"/>
            <a:ext cx="1676400" cy="54917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705600" y="2508052"/>
            <a:ext cx="1676400" cy="177373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705600" y="2508052"/>
            <a:ext cx="1676400" cy="355402"/>
          </a:xfrm>
          <a:prstGeom prst="rect">
            <a:avLst/>
          </a:prstGeom>
          <a:solidFill>
            <a:srgbClr val="F8F9F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705600" y="2964954"/>
            <a:ext cx="1676400" cy="355402"/>
          </a:xfrm>
          <a:prstGeom prst="rect">
            <a:avLst/>
          </a:prstGeom>
          <a:solidFill>
            <a:srgbClr val="F8F9F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705600" y="3421856"/>
            <a:ext cx="1676400" cy="355402"/>
          </a:xfrm>
          <a:prstGeom prst="rect">
            <a:avLst/>
          </a:prstGeom>
          <a:solidFill>
            <a:srgbClr val="F8F9F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705600" y="3878759"/>
            <a:ext cx="1676400" cy="403027"/>
          </a:xfrm>
          <a:prstGeom prst="rect">
            <a:avLst/>
          </a:prstGeom>
          <a:solidFill>
            <a:srgbClr val="F8F9F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8382000" cy="438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到 CLI 桥接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clink (CLI + Link) - 连接外部 AI CLI 直接进入您的工作流程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🔗 连接外部 CLI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直接桥接 Gemini CLI、Codex CLI、Claude Code 等工具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🔄 CLI 子代理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从当前 CLI 内启动独立的 CLI 实例，处理复杂任务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🏝️ 上下文隔离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运行独立调查而不污染主工作空间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🎯 角色专业化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专门化的系统提示词 - planner、codereviewer 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Codex spawns Codex subagent for isolated code review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clink with codex codereviewer to audit auth module for security issues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Consensus from different AI models → Implementation handoff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consensus with gpt-5 and gemini-pro to decide: dark mode or offline support next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with clink gemini - implement the recommended feature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81050" y="1053257"/>
            <a:ext cx="7581900" cy="5810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到 CLI 桥接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81050" y="1888182"/>
            <a:ext cx="7581900" cy="8030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clink (CLI + Link) - 连接外部 AI CLI 直接进入您的工作流程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81050" y="2945160"/>
            <a:ext cx="7581900" cy="25863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连接外部 CLI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直接桥接 Gemini CLI、Codex CLI、Claude Code 等工具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🔄 CLI 子代理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从当前 CLI 内启动独立的 CLI 实例，处理复杂任务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🏝️ 上下文隔离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运行独立调查而不污染主工作空间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🎯 角色专业化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专门化的系统提示词 - planner、codereviewer 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81050" y="2945160"/>
            <a:ext cx="3664000" cy="11662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连接外部 CLI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直接桥接 Gemini CLI、Codex CLI、Claude Code 等工具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19175" y="3135660"/>
            <a:ext cx="3235375" cy="2571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连接外部 CLI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19175" y="3494336"/>
            <a:ext cx="3235375" cy="4265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直接桥接 Gemini CLI、Codex CLI、Claude Code 等工具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98950" y="2945160"/>
            <a:ext cx="3664000" cy="11662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CLI 子代理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从当前 CLI 内启动独立的 CLI 实例，处理复杂任务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075" y="3135660"/>
            <a:ext cx="3235375" cy="2571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CLI 子代理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075" y="3494336"/>
            <a:ext cx="3235375" cy="4265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从当前 CLI 内启动独立的 CLI 实例，处理复杂任务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1050" y="4365278"/>
            <a:ext cx="3664000" cy="11662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🏝️ 上下文隔离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运行独立调查而不污染主工作空间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19175" y="4555778"/>
            <a:ext cx="3235375" cy="2571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🏝️ 上下文隔离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19175" y="4914454"/>
            <a:ext cx="3235375" cy="2132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运行独立调查而不污染主工作空间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98950" y="4365278"/>
            <a:ext cx="3664000" cy="11662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角色专业化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专门化的系统提示词 - planner、codereviewer 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075" y="4555778"/>
            <a:ext cx="3235375" cy="2571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角色专业化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075" y="4914454"/>
            <a:ext cx="3235375" cy="4265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专门化的系统提示词 - planner、codereviewer 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81050" y="5785396"/>
            <a:ext cx="7581900" cy="1333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Codex spawns Codex subagent for isolated code review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clink with codex codereviewer to audit auth module for security issues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Consensus from different AI models → Implementation handoff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consensus with gpt-5 and gemini-pro to decide: dark mode or offline support next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with clink gemini - implement the recommended feature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1000" y="381000"/>
            <a:ext cx="8382000" cy="438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1050" y="1888182"/>
            <a:ext cx="7581900" cy="80307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1050" y="2945160"/>
            <a:ext cx="7581900" cy="258633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1050" y="2945160"/>
            <a:ext cx="3664000" cy="1166217"/>
          </a:xfrm>
          <a:prstGeom prst="rect">
            <a:avLst/>
          </a:prstGeom>
          <a:solidFill>
            <a:srgbClr val="F8F9F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19175" y="3135660"/>
            <a:ext cx="3235375" cy="25717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9175" y="3494336"/>
            <a:ext cx="3235375" cy="42654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98950" y="2945160"/>
            <a:ext cx="3664000" cy="1166217"/>
          </a:xfrm>
          <a:prstGeom prst="rect">
            <a:avLst/>
          </a:prstGeom>
          <a:solidFill>
            <a:srgbClr val="F8F9F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37075" y="3135660"/>
            <a:ext cx="3235375" cy="25717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37075" y="3494336"/>
            <a:ext cx="3235375" cy="42654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1050" y="4365278"/>
            <a:ext cx="3664000" cy="1166217"/>
          </a:xfrm>
          <a:prstGeom prst="rect">
            <a:avLst/>
          </a:prstGeom>
          <a:solidFill>
            <a:srgbClr val="F8F9F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19175" y="4555778"/>
            <a:ext cx="3235375" cy="25717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19175" y="4914454"/>
            <a:ext cx="3235375" cy="21327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98950" y="4365278"/>
            <a:ext cx="3664000" cy="1166217"/>
          </a:xfrm>
          <a:prstGeom prst="rect">
            <a:avLst/>
          </a:prstGeom>
          <a:solidFill>
            <a:srgbClr val="F8F9F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37075" y="4555778"/>
            <a:ext cx="3235375" cy="25717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37075" y="4914454"/>
            <a:ext cx="3235375" cy="42654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1050" y="5785396"/>
            <a:ext cx="7581900" cy="1333500"/>
          </a:xfrm>
          <a:prstGeom prst="rect">
            <a:avLst/>
          </a:prstGeom>
          <a:solidFill>
            <a:srgbClr val="181B2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8382000" cy="438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多模型协作生态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🔵 OpenAI 系列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GPT-5 Pro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O3 (推理专家)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GPT-4.1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GPT-4o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🟣 Google Gemini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Gemini 2.5 Pro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Gemini Flash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Gemini Thinking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Gemini Live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🟠 Anthropic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Claude 3.5 Sonnet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Claude 3.5 Haiku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Claude 3 Opus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Claude Code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🟡 其他平台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X.AI Grok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Azure OpenAI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OpenRouter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DIAL Gateway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🟢 本地模型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Ollama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Llama 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Mistral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Qwen 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🔴 专业工具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DeepSeek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Kimi 思考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智谱 GLM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通义千问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🤝 真实协作工作流示例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Claude 协调多个模型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Gemini Pro 深度分析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O3 推理验证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统一结果交付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1000125"/>
            <a:ext cx="7620000" cy="5143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多模型协作生态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768376"/>
            <a:ext cx="7620000" cy="37293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OpenAI 系列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GPT-5 Pro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O3 (推理专家)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GPT-4.1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GPT-4o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🟣 Google Gemini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Gemini 2.5 Pro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Gemini Flash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Gemini Thinking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Gemini Live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🟠 Anthropic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Claude 3.5 Sonnet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Claude 3.5 Haiku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Claude 3 Opus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Claude Code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🟡 其他平台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X.AI Grok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Azure OpenAI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OpenRouter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DIAL Gateway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🟢 本地模型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Ollama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Llama 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Mistral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Qwen 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🔴 专业工具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DeepSeek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Kimi 思考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智谱 GLM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通义千问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62000" y="1768376"/>
            <a:ext cx="2370683" cy="17377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OpenAI 系列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GPT-5 Pro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O3 (推理专家)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GPT-4.1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GPT-4o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15901" y="2022277"/>
            <a:ext cx="1862882" cy="2952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OpenAI 系列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5901" y="2469952"/>
            <a:ext cx="1862882" cy="7822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 Pro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O3 (推理专家)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GPT-4.1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GPT-4o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6584" y="1768376"/>
            <a:ext cx="2370683" cy="17377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🟣 Google Gemini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Gemini 2.5 Pro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Gemini Flash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Gemini Thinking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Gemini Live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40485" y="2022277"/>
            <a:ext cx="1862882" cy="2762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🟣 Google Gemini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40485" y="2450902"/>
            <a:ext cx="1862882" cy="7822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Pro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Gemini Flash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Gemini Thinking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Gemini Live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11168" y="1768376"/>
            <a:ext cx="2370683" cy="17377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🟠 Anthropic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Claude 3.5 Sonnet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Claude 3.5 Haiku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Claude 3 Opus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Claude Code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65069" y="2022277"/>
            <a:ext cx="1862882" cy="2762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🟠 Anthropic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65069" y="2450902"/>
            <a:ext cx="1862882" cy="7822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3.5 Sonnet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Claude 3.5 Haiku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Claude 3 Opus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Claude Code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2000" y="3759994"/>
            <a:ext cx="2370683" cy="17377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其他平台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X.AI Grok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Azure OpenAI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OpenRouter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DIAL Gateway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15901" y="4013895"/>
            <a:ext cx="1862882" cy="2952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其他平台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5901" y="4461570"/>
            <a:ext cx="1862882" cy="7822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X.AI Grok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Azure OpenAI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OpenRouter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DIAL Gateway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6584" y="3759994"/>
            <a:ext cx="2370683" cy="17377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本地模型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Ollama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Llama 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Mistral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Qwen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40485" y="4013895"/>
            <a:ext cx="1862882" cy="2952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本地模型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640485" y="4461570"/>
            <a:ext cx="1862882" cy="7822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Llama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Mistral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Qwen 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11168" y="3759994"/>
            <a:ext cx="2370683" cy="17377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专业工具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DeepSeek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Kimi 思考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智谱 GLM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通义千问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5069" y="4013895"/>
            <a:ext cx="1862882" cy="2952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专业工具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65069" y="4461570"/>
            <a:ext cx="1862882" cy="7822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Kimi 思考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智谱 GLM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通义千问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62000" y="5815161"/>
            <a:ext cx="7620000" cy="18127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真实协作工作流示例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Claude 协调多个模型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Gemini Pro 深度分析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O3 推理验证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统一结果交付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34951" y="6088112"/>
            <a:ext cx="7074098" cy="3333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真实协作工作流示例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34951" y="6573887"/>
            <a:ext cx="7074098" cy="781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协调多个模型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Gemini Pro 深度分析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O3 推理验证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统一结果交付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98352" y="6573887"/>
            <a:ext cx="1451223" cy="781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协调多个模型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12975" y="6816775"/>
            <a:ext cx="254050" cy="2952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2930426" y="6573887"/>
            <a:ext cx="1451223" cy="781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Pro 深度分析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445050" y="6816775"/>
            <a:ext cx="254050" cy="2952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762500" y="6664375"/>
            <a:ext cx="1451223" cy="600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O3 推理验证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77124" y="6816775"/>
            <a:ext cx="254050" cy="2952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594574" y="6664375"/>
            <a:ext cx="1451223" cy="600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统一结果交付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81000" y="381000"/>
            <a:ext cx="8382000" cy="438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2000" y="1768376"/>
            <a:ext cx="7620000" cy="372933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2000" y="1768376"/>
            <a:ext cx="2370683" cy="173771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15901" y="2022277"/>
            <a:ext cx="1862882" cy="29527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15901" y="2469952"/>
            <a:ext cx="1862882" cy="78224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86584" y="1768376"/>
            <a:ext cx="2370683" cy="173771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40485" y="2022277"/>
            <a:ext cx="1862882" cy="27622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40485" y="2450902"/>
            <a:ext cx="1862882" cy="78224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11168" y="1768376"/>
            <a:ext cx="2370683" cy="173771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65069" y="2022277"/>
            <a:ext cx="1862882" cy="27622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65069" y="2450902"/>
            <a:ext cx="1862882" cy="78224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62000" y="3759994"/>
            <a:ext cx="2370683" cy="173771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15901" y="4013895"/>
            <a:ext cx="1862882" cy="29527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15901" y="4461570"/>
            <a:ext cx="1862882" cy="78224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386584" y="3759994"/>
            <a:ext cx="2370683" cy="173771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640485" y="4013895"/>
            <a:ext cx="1862882" cy="29527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640485" y="4461570"/>
            <a:ext cx="1862882" cy="78224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011168" y="3759994"/>
            <a:ext cx="2370683" cy="173771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65069" y="4013895"/>
            <a:ext cx="1862882" cy="29527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265069" y="4461570"/>
            <a:ext cx="1862882" cy="78224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62000" y="5815161"/>
            <a:ext cx="7620000" cy="1812727"/>
          </a:xfrm>
          <a:prstGeom prst="rect">
            <a:avLst/>
          </a:prstGeom>
          <a:solidFill>
            <a:srgbClr val="F8F9F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34951" y="6088112"/>
            <a:ext cx="7074098" cy="33337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34951" y="6573887"/>
            <a:ext cx="7074098" cy="78105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98352" y="6573887"/>
            <a:ext cx="1451223" cy="78105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612975" y="6816775"/>
            <a:ext cx="254050" cy="29527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930426" y="6573887"/>
            <a:ext cx="1451223" cy="78105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445050" y="6816775"/>
            <a:ext cx="254050" cy="29527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62500" y="6664375"/>
            <a:ext cx="1451223" cy="60007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277124" y="6816775"/>
            <a:ext cx="254050" cy="29527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594574" y="6664375"/>
            <a:ext cx="1451223" cy="60007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8382000" cy="438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实际工作流程示例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🔍 多模型代码审查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1.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Claude Code 系统性代码审查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2.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Gemini Pro 深度分析第二视角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3.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O3 推理验证和补充发现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4.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Planner 生成统一修复计划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5.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Claude 实现修复并 PreCommit 验证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完整审查报告 + 修复实现 + 质量验证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🧠 协作调试流程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1.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深度分析工具 investigation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2.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ThinkDeep 扩展推理分析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3.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Debug 系统性根因分析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4.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Chat 多模型协作讨论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5.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Consensus 多模型决策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解决方案 + 验证计划 + 最佳实践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1000125"/>
            <a:ext cx="7620000" cy="5143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实际工作流程示例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768376"/>
            <a:ext cx="7620000" cy="40639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多模型代码审查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1.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Claude Code 系统性代码审查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2.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Gemini Pro 深度分析第二视角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3.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O3 推理验证和补充发现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4.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Planner 生成统一修复计划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5.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Claude 实现修复并 PreCommit 验证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完整审查报告 + 修复实现 + 质量验证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🧠 协作调试流程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1.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深度分析工具 investigation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2.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ThinkDeep 扩展推理分析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3.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Debug 系统性根因分析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4.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Chat 多模型协作讨论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5.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Consensus 多模型决策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解决方案 + 验证计划 + 最佳实践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62000" y="1768376"/>
            <a:ext cx="3651200" cy="57828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多模型代码审查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1.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Claude Code 系统性代码审查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2.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Gemini Pro 深度分析第二视角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3.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O3 推理验证和补充发现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4.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Planner 生成统一修复计划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5.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Claude 实现修复并 PreCommit 验证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完整审查报告 + 修复实现 + 质量验证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34951" y="2041327"/>
            <a:ext cx="3105299" cy="4982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多模型代码审查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34951" y="2730103"/>
            <a:ext cx="3105299" cy="3985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Claude Code 系统性代码审查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34951" y="3281065"/>
            <a:ext cx="3105299" cy="2381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34951" y="3620691"/>
            <a:ext cx="3105299" cy="3985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Gemini Pro 深度分析第二视角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34951" y="4171652"/>
            <a:ext cx="3105299" cy="2381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34951" y="4511278"/>
            <a:ext cx="3105299" cy="3985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O3 推理验证和补充发现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34951" y="5062240"/>
            <a:ext cx="3105299" cy="2381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34951" y="5401866"/>
            <a:ext cx="3105299" cy="3985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Planner 生成统一修复计划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34951" y="5952827"/>
            <a:ext cx="3105299" cy="2381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34951" y="6292453"/>
            <a:ext cx="3105299" cy="3985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Claude 实现修复并 PreCommit 验证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34951" y="6843415"/>
            <a:ext cx="3105299" cy="4348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完整审查报告 + 修复实现 + 质量验证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30651" y="1768376"/>
            <a:ext cx="3651349" cy="57828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协作调试流程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1.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深度分析工具 investigation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2.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ThinkDeep 扩展推理分析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3.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Debug 系统性根因分析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4.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Chat 多模型协作讨论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5.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Consensus 多模型决策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解决方案 + 验证计划 + 最佳实践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03602" y="2041327"/>
            <a:ext cx="3105448" cy="4982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协作调试流程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03602" y="2730103"/>
            <a:ext cx="3105448" cy="3985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深度分析工具 investigation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03602" y="3281065"/>
            <a:ext cx="3105448" cy="2381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03602" y="3620691"/>
            <a:ext cx="3105448" cy="3985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ThinkDeep 扩展推理分析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03602" y="4171652"/>
            <a:ext cx="3105448" cy="2381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03602" y="4511278"/>
            <a:ext cx="3105448" cy="3985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Debug 系统性根因分析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03602" y="5062240"/>
            <a:ext cx="3105448" cy="2381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03602" y="5401866"/>
            <a:ext cx="3105448" cy="3985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Chat 多模型协作讨论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03602" y="5952827"/>
            <a:ext cx="3105448" cy="2381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03602" y="6292453"/>
            <a:ext cx="3105448" cy="3985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Consensus 多模型决策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03602" y="6843415"/>
            <a:ext cx="3105448" cy="4348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解决方案 + 验证计划 + 最佳实践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81000" y="381000"/>
            <a:ext cx="8382000" cy="438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2000" y="1768376"/>
            <a:ext cx="7620000" cy="406390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2000" y="1768376"/>
            <a:ext cx="3651200" cy="5782866"/>
          </a:xfrm>
          <a:prstGeom prst="rect">
            <a:avLst/>
          </a:prstGeom>
          <a:solidFill>
            <a:srgbClr val="F8F9F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34951" y="2041327"/>
            <a:ext cx="3105299" cy="49827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34951" y="2730103"/>
            <a:ext cx="3105299" cy="39856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34951" y="3281065"/>
            <a:ext cx="3105299" cy="23812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34951" y="3620691"/>
            <a:ext cx="3105299" cy="39856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34951" y="4171652"/>
            <a:ext cx="3105299" cy="23812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34951" y="4511278"/>
            <a:ext cx="3105299" cy="39856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34951" y="5062240"/>
            <a:ext cx="3105299" cy="23812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34951" y="5401866"/>
            <a:ext cx="3105299" cy="39856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34951" y="5952827"/>
            <a:ext cx="3105299" cy="23812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34951" y="6292453"/>
            <a:ext cx="3105299" cy="39856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34951" y="6843415"/>
            <a:ext cx="3105299" cy="43487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30651" y="1768376"/>
            <a:ext cx="3651349" cy="5782866"/>
          </a:xfrm>
          <a:prstGeom prst="rect">
            <a:avLst/>
          </a:prstGeom>
          <a:solidFill>
            <a:srgbClr val="F8F9F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003602" y="2041327"/>
            <a:ext cx="3105448" cy="49827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003602" y="2730103"/>
            <a:ext cx="3105448" cy="39856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003602" y="3281065"/>
            <a:ext cx="3105448" cy="23812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003602" y="3620691"/>
            <a:ext cx="3105448" cy="39856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003602" y="4171652"/>
            <a:ext cx="3105448" cy="23812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003602" y="4511278"/>
            <a:ext cx="3105448" cy="39856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003602" y="5062240"/>
            <a:ext cx="3105448" cy="23812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003602" y="5401866"/>
            <a:ext cx="3105448" cy="39856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003602" y="5952827"/>
            <a:ext cx="3105448" cy="23812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003602" y="6292453"/>
            <a:ext cx="3105448" cy="39856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003602" y="6843415"/>
            <a:ext cx="3105448" cy="43487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8382000" cy="438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专业工具集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🤝 协作与规划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chat启用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协作决策、多轮对话、代码生成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consensus启用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多模型辩论、专家意见收集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planner启用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复杂项目结构化分解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thinkdeep启用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扩展推理、边缘案例分析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clink启用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CLI 到 CLI 桥接、外部工具连接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🔍 代码分析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codereview启用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专业代码审查、严重级别分类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analyze禁用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架构分析、模式识别、依赖关系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tracer禁用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调用流映射、静态分析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debug启用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系统性根因分析、假设追踪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precommit启用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变更验证、回归预防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🛠️ 开发工具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refactor禁用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智能重构、分解重构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testgen禁用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测试用例生成、边缘案例覆盖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secaudit禁用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安全审计、OWASP Top 10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docgen禁用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文档生成、复杂度分析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apilookup启用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最新 API 文档、SDK 信息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📝 核心工具默认启用，高级工具可通过配置启用 | 所有工具支持多模型协作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98450" y="936575"/>
            <a:ext cx="7747099" cy="5143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专业工具集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98450" y="1641425"/>
            <a:ext cx="7747099" cy="39457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协作与规划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chat启用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协作决策、多轮对话、代码生成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consensus启用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多模型辩论、专家意见收集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planner启用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复杂项目结构化分解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thinkdeep启用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扩展推理、边缘案例分析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clink启用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CLI 到 CLI 桥接、外部工具连接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🔍 代码分析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codereview启用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专业代码审查、严重级别分类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analyze禁用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架构分析、模式识别、依赖关系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tracer禁用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调用流映射、静态分析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debug启用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系统性根因分析、假设追踪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precommit启用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变更验证、回归预防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🛠️ 开发工具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refactor禁用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智能重构、分解重构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testgen禁用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测试用例生成、边缘案例覆盖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secaudit禁用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安全审计、OWASP Top 10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docgen禁用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文档生成、复杂度分析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apilookup启用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最新 API 文档、SDK 信息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98450" y="1641425"/>
            <a:ext cx="2455366" cy="39457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协作与规划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chat启用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协作决策、多轮对话、代码生成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consensus启用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多模型辩论、专家意见收集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planner启用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复杂项目结构化分解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thinkdeep启用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扩展推理、边缘案例分析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clink启用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CLI 到 CLI 桥接、外部工具连接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08000" y="1850975"/>
            <a:ext cx="2036266" cy="4095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协作与规划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08000" y="2412950"/>
            <a:ext cx="2036266" cy="4914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chat启用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协作决策、多轮对话、代码生成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12775" y="2489150"/>
            <a:ext cx="1855291" cy="152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chat启用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12775" y="2679650"/>
            <a:ext cx="1855291" cy="1485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协作决策、多轮对话、代码生成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08000" y="3005882"/>
            <a:ext cx="2036266" cy="4914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consensus启用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多模型辩论、专家意见收集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12775" y="3082082"/>
            <a:ext cx="1855291" cy="152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consensus启用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12775" y="3272582"/>
            <a:ext cx="1855291" cy="1485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多模型辩论、专家意见收集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08000" y="3598813"/>
            <a:ext cx="2036266" cy="4914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planner启用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复杂项目结构化分解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12775" y="3675013"/>
            <a:ext cx="1855291" cy="152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planner启用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12775" y="3865513"/>
            <a:ext cx="1855291" cy="1485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复杂项目结构化分解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08000" y="4191744"/>
            <a:ext cx="2036266" cy="4914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thinkdeep启用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扩展推理、边缘案例分析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12775" y="4267944"/>
            <a:ext cx="1855291" cy="152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thinkdeep启用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2775" y="4458444"/>
            <a:ext cx="1855291" cy="1485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扩展推理、边缘案例分析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08000" y="4784675"/>
            <a:ext cx="2036266" cy="4914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clink启用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CLI 到 CLI 桥接、外部工具连接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12775" y="4860875"/>
            <a:ext cx="1855291" cy="152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clink启用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12775" y="5051375"/>
            <a:ext cx="1855291" cy="1485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到 CLI 桥接、外部工具连接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44317" y="1641425"/>
            <a:ext cx="2455366" cy="39457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代码分析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codereview启用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专业代码审查、严重级别分类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analyze禁用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架构分析、模式识别、依赖关系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tracer禁用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调用流映射、静态分析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debug启用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系统性根因分析、假设追踪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precommit启用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变更验证、回归预防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53867" y="1850975"/>
            <a:ext cx="2036266" cy="4095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代码分析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553867" y="2412950"/>
            <a:ext cx="2036266" cy="4914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codereview启用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专业代码审查、严重级别分类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8642" y="2489150"/>
            <a:ext cx="1855291" cy="152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codereview启用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8642" y="2679650"/>
            <a:ext cx="1855291" cy="1485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专业代码审查、严重级别分类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553867" y="3005882"/>
            <a:ext cx="2036266" cy="4914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analyze禁用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架构分析、模式识别、依赖关系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8642" y="3082082"/>
            <a:ext cx="1855291" cy="152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analyze禁用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8642" y="3272582"/>
            <a:ext cx="1855291" cy="1485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架构分析、模式识别、依赖关系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553867" y="3598813"/>
            <a:ext cx="2036266" cy="4914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tracer禁用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调用流映射、静态分析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8642" y="3675013"/>
            <a:ext cx="1855291" cy="152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tracer禁用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8642" y="3865513"/>
            <a:ext cx="1855291" cy="1485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调用流映射、静态分析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553867" y="4191744"/>
            <a:ext cx="2036266" cy="4914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debug启用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系统性根因分析、假设追踪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8642" y="4267944"/>
            <a:ext cx="1855291" cy="152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debug启用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58642" y="4458444"/>
            <a:ext cx="1855291" cy="1485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系统性根因分析、假设追踪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553867" y="4784675"/>
            <a:ext cx="2036266" cy="4914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precommit启用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变更验证、回归预防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658642" y="4860875"/>
            <a:ext cx="1855291" cy="152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precommit启用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658642" y="5051375"/>
            <a:ext cx="1855291" cy="1485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变更验证、回归预防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990183" y="1641425"/>
            <a:ext cx="2455366" cy="39457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 开发工具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refactor禁用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智能重构、分解重构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testgen禁用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测试用例生成、边缘案例覆盖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secaudit禁用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安全审计、OWASP Top 10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docgen禁用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文档生成、复杂度分析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apilookup启用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最新 API 文档、SDK 信息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199733" y="1850975"/>
            <a:ext cx="2036266" cy="4095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 开发工具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199733" y="2412950"/>
            <a:ext cx="2036266" cy="4914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refactor禁用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智能重构、分解重构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04508" y="2489150"/>
            <a:ext cx="1855291" cy="152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refactor禁用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04508" y="2679650"/>
            <a:ext cx="1855291" cy="1485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智能重构、分解重构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199733" y="3005882"/>
            <a:ext cx="2036266" cy="4914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testgen禁用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测试用例生成、边缘案例覆盖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304508" y="3082082"/>
            <a:ext cx="1855291" cy="152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testgen禁用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304508" y="3272582"/>
            <a:ext cx="1855291" cy="1485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测试用例生成、边缘案例覆盖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199733" y="3598813"/>
            <a:ext cx="2036266" cy="4914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secaudit禁用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安全审计、OWASP Top 10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304508" y="3675013"/>
            <a:ext cx="1855291" cy="152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secaudit禁用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304508" y="3865513"/>
            <a:ext cx="1855291" cy="1485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安全审计、OWASP Top 10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199733" y="4191744"/>
            <a:ext cx="2036266" cy="4914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docgen禁用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文档生成、复杂度分析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304508" y="4267944"/>
            <a:ext cx="1855291" cy="152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docgen禁用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304508" y="4458444"/>
            <a:ext cx="1855291" cy="1485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文档生成、复杂度分析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199733" y="4784675"/>
            <a:ext cx="2036266" cy="4914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apilookup启用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最新 API 文档、SDK 信息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304508" y="4860875"/>
            <a:ext cx="1855291" cy="152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apilookup启用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304508" y="5051375"/>
            <a:ext cx="1855291" cy="1485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最新 API 文档、SDK 信息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98450" y="5777657"/>
            <a:ext cx="7747099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核心工具默认启用，高级工具可通过配置启用 | 所有工具支持多模型协作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381000" y="381000"/>
            <a:ext cx="8382000" cy="438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98450" y="1641425"/>
            <a:ext cx="7747099" cy="394573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98450" y="1641425"/>
            <a:ext cx="2455366" cy="3945731"/>
          </a:xfrm>
          <a:prstGeom prst="rect">
            <a:avLst/>
          </a:prstGeom>
          <a:solidFill>
            <a:srgbClr val="F8F9F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08000" y="1850975"/>
            <a:ext cx="2036266" cy="40957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08000" y="2412950"/>
            <a:ext cx="2036266" cy="49143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12775" y="2489150"/>
            <a:ext cx="1855291" cy="152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12775" y="2679650"/>
            <a:ext cx="1855291" cy="14853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08000" y="3005882"/>
            <a:ext cx="2036266" cy="49143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12775" y="3082082"/>
            <a:ext cx="1855291" cy="152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12775" y="3272582"/>
            <a:ext cx="1855291" cy="14853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08000" y="3598813"/>
            <a:ext cx="2036266" cy="49143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12775" y="3675013"/>
            <a:ext cx="1855291" cy="152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12775" y="3865513"/>
            <a:ext cx="1855291" cy="14853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08000" y="4191744"/>
            <a:ext cx="2036266" cy="49143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12775" y="4267944"/>
            <a:ext cx="1855291" cy="152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12775" y="4458444"/>
            <a:ext cx="1855291" cy="14853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08000" y="4784675"/>
            <a:ext cx="2036266" cy="49143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12775" y="4860875"/>
            <a:ext cx="1855291" cy="152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012775" y="5051375"/>
            <a:ext cx="1855291" cy="14853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344317" y="1641425"/>
            <a:ext cx="2455366" cy="3945731"/>
          </a:xfrm>
          <a:prstGeom prst="rect">
            <a:avLst/>
          </a:prstGeom>
          <a:solidFill>
            <a:srgbClr val="F8F9F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553867" y="1850975"/>
            <a:ext cx="2036266" cy="40957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553867" y="2412950"/>
            <a:ext cx="2036266" cy="49143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658642" y="2489150"/>
            <a:ext cx="1855291" cy="152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658642" y="2679650"/>
            <a:ext cx="1855291" cy="14853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553867" y="3005882"/>
            <a:ext cx="2036266" cy="49143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658642" y="3082082"/>
            <a:ext cx="1855291" cy="152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658642" y="3272582"/>
            <a:ext cx="1855291" cy="14853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553867" y="3598813"/>
            <a:ext cx="2036266" cy="49143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658642" y="3675013"/>
            <a:ext cx="1855291" cy="152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658642" y="3865513"/>
            <a:ext cx="1855291" cy="14853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553867" y="4191744"/>
            <a:ext cx="2036266" cy="49143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658642" y="4267944"/>
            <a:ext cx="1855291" cy="152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658642" y="4458444"/>
            <a:ext cx="1855291" cy="14853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553867" y="4784675"/>
            <a:ext cx="2036266" cy="49143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658642" y="4860875"/>
            <a:ext cx="1855291" cy="152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658642" y="5051375"/>
            <a:ext cx="1855291" cy="14853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990183" y="1641425"/>
            <a:ext cx="2455366" cy="3945731"/>
          </a:xfrm>
          <a:prstGeom prst="rect">
            <a:avLst/>
          </a:prstGeom>
          <a:solidFill>
            <a:srgbClr val="F8F9F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199733" y="1850975"/>
            <a:ext cx="2036266" cy="40957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199733" y="2412950"/>
            <a:ext cx="2036266" cy="49143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304508" y="2489150"/>
            <a:ext cx="1855291" cy="152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304508" y="2679650"/>
            <a:ext cx="1855291" cy="14853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199733" y="3005882"/>
            <a:ext cx="2036266" cy="49143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304508" y="3082082"/>
            <a:ext cx="1855291" cy="152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304508" y="3272582"/>
            <a:ext cx="1855291" cy="14853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199733" y="3598813"/>
            <a:ext cx="2036266" cy="49143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304508" y="3675013"/>
            <a:ext cx="1855291" cy="152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304508" y="3865513"/>
            <a:ext cx="1855291" cy="14853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199733" y="4191744"/>
            <a:ext cx="2036266" cy="49143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304508" y="4267944"/>
            <a:ext cx="1855291" cy="152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304508" y="4458444"/>
            <a:ext cx="1855291" cy="14853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199733" y="4784675"/>
            <a:ext cx="2036266" cy="49143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304508" y="4860875"/>
            <a:ext cx="1855291" cy="152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304508" y="5051375"/>
            <a:ext cx="1855291" cy="14853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98450" y="5777657"/>
            <a:ext cx="7747099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8382000" cy="438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快速开始指南 (5分钟)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准备 API 密钥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选择并获取至少一个 AI 模型的 API 密钥：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• OpenRouter (推荐)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• Google Gemini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• OpenAI (O3, GPT-5)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• Azure OpenAI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• Ollama (本地免费)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安装与配置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克隆项目并启动服务器：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clone https://github.com/...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 zen-mcp-server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./run-server.sh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或使用 uvx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uvx --from git+https://...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zen-mcp-server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配置 MCP 服务器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在 Claude Desktop 或 IDE 配置中添加：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"mcpServers":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"zen":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  "command": "bash",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  "args": ["-c", "uvx --from git+..."],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  "env":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    "GEMINI_API_KEY": "your-key",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    "DEFAULT_MODEL": "auto"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  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开始使用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立即体验多模型协作：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"用 gemini pro 分析这段代码的安全问题"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"用 o3 调试这个错误，然后用 flash 优化"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"使用 consensus 从多个模型获取建议"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"clink with gemini planner 制定迁移计划"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💡 提示：首次使用建议从简单的 chat 或 codereview 命令开始，熟悉多模型协作后再尝试复杂工作流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81050" y="1019175"/>
            <a:ext cx="7581900" cy="5143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快速开始指南 (5分钟)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81050" y="1787426"/>
            <a:ext cx="7581900" cy="73015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准备 API 密钥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选择并获取至少一个 AI 模型的 API 密钥：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• OpenRouter (推荐)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• Google Gemini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• OpenAI (O3, GPT-5)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• Azure OpenAI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• Ollama (本地免费)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安装与配置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克隆项目并启动服务器：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clone https://github.com/...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 zen-mcp-server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./run-server.sh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或使用 uvx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uvx --from git+https://...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zen-mcp-server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配置 MCP 服务器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在 Claude Desktop 或 IDE 配置中添加：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"mcpServers":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"zen":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  "command": "bash",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  "args": ["-c", "uvx --from git+..."],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  "env":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    "GEMINI_API_KEY": "your-key",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    "DEFAULT_MODEL": "auto"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  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开始使用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立即体验多模型协作：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"用 gemini pro 分析这段代码的安全问题"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"用 o3 调试这个错误，然后用 flash 优化"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"使用 consensus 从多个模型获取建议"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"clink with gemini planner 制定迁移计划"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81050" y="1787426"/>
            <a:ext cx="3664000" cy="3257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准备 API 密钥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选择并获取至少一个 AI 模型的 API 密钥：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• OpenRouter (推荐)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• Google Gemini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• OpenAI (O3, GPT-5)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• Azure OpenAI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• Ollama (本地免费)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2101" y="2041327"/>
            <a:ext cx="381000" cy="38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2101" y="2574727"/>
            <a:ext cx="3099048" cy="2952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准备 API 密钥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2101" y="2996952"/>
            <a:ext cx="3099048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选择并获取至少一个 AI 模型的 API 密钥：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2101" y="3327053"/>
            <a:ext cx="3099048" cy="11144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OpenRouter (推荐)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• Google Gemini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• OpenAI (O3, GPT-5)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• Azure OpenAI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• Ollama (本地免费)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98950" y="1787426"/>
            <a:ext cx="3664000" cy="3257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安装与配置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克隆项目并启动服务器：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clone https://github.com/...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 zen-mcp-server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./run-server.sh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或使用 uvx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uvx --from git+https://...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zen-mcp-server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10001" y="2041327"/>
            <a:ext cx="381000" cy="38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10001" y="2574727"/>
            <a:ext cx="3099048" cy="2952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安装与配置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10001" y="2996952"/>
            <a:ext cx="3099048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克隆项目并启动服务器：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10001" y="3327053"/>
            <a:ext cx="3099048" cy="1362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clone https://github.com/...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 zen-mcp-server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./run-server.sh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或使用 uvx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uvx --from git+https://...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zen-mcp-server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81050" y="5298430"/>
            <a:ext cx="3664000" cy="3790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配置 MCP 服务器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在 Claude Desktop 或 IDE 配置中添加：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"mcpServers":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"zen":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  "command": "bash",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  "args": ["-c", "uvx --from git+..."],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  "env":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    "GEMINI_API_KEY": "your-key",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    "DEFAULT_MODEL": "auto"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  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2101" y="5552331"/>
            <a:ext cx="381000" cy="38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2101" y="6085731"/>
            <a:ext cx="3099048" cy="2952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 MCP 服务器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2101" y="6507956"/>
            <a:ext cx="3099048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 Claude Desktop 或 IDE 配置中添加：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2101" y="6838057"/>
            <a:ext cx="3099048" cy="18954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"mcpServers":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"zen":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  "command": "bash",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  "args": ["-c", "uvx --from git+..."],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  "env":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    "GEMINI_API_KEY": "your-key",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    "DEFAULT_MODEL": "auto"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  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98950" y="5298430"/>
            <a:ext cx="3664000" cy="3790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开始使用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立即体验多模型协作：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"用 gemini pro 分析这段代码的安全问题"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"用 o3 调试这个错误，然后用 flash 优化"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"使用 consensus 从多个模型获取建议"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"clink with gemini planner 制定迁移计划"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10001" y="5552331"/>
            <a:ext cx="381000" cy="38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10001" y="6085731"/>
            <a:ext cx="3099048" cy="2952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开始使用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10001" y="6507956"/>
            <a:ext cx="3099048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立即体验多模型协作：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10001" y="6838057"/>
            <a:ext cx="3099048" cy="16573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"用 gemini pro 分析这段代码的安全问题"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"用 o3 调试这个错误，然后用 flash 优化"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"使用 consensus 从多个模型获取建议"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"clink with gemini planner 制定迁移计划"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81050" y="9279434"/>
            <a:ext cx="7581900" cy="472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提示：首次使用建议从简单的 chat 或 codereview 命令开始，熟悉多模型协作后再尝试复杂工作流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81000" y="381000"/>
            <a:ext cx="8382000" cy="438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050" y="1787426"/>
            <a:ext cx="7581900" cy="73015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1050" y="1787426"/>
            <a:ext cx="3664000" cy="3257104"/>
          </a:xfrm>
          <a:prstGeom prst="rect">
            <a:avLst/>
          </a:prstGeom>
          <a:solidFill>
            <a:srgbClr val="F8F9F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92101" y="2041327"/>
            <a:ext cx="381000" cy="38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92101" y="2574727"/>
            <a:ext cx="3099048" cy="29527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92101" y="2996952"/>
            <a:ext cx="3099048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92101" y="3327053"/>
            <a:ext cx="3099048" cy="1114425"/>
          </a:xfrm>
          <a:prstGeom prst="rect">
            <a:avLst/>
          </a:prstGeom>
          <a:solidFill>
            <a:srgbClr val="181B2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98950" y="1787426"/>
            <a:ext cx="3664000" cy="3257104"/>
          </a:xfrm>
          <a:prstGeom prst="rect">
            <a:avLst/>
          </a:prstGeom>
          <a:solidFill>
            <a:srgbClr val="F8F9F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10001" y="2041327"/>
            <a:ext cx="381000" cy="38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10001" y="2574727"/>
            <a:ext cx="3099048" cy="29527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10001" y="2996952"/>
            <a:ext cx="3099048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10001" y="3327053"/>
            <a:ext cx="3099048" cy="1362075"/>
          </a:xfrm>
          <a:prstGeom prst="rect">
            <a:avLst/>
          </a:prstGeom>
          <a:solidFill>
            <a:srgbClr val="181B2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81050" y="5298430"/>
            <a:ext cx="3664000" cy="3790504"/>
          </a:xfrm>
          <a:prstGeom prst="rect">
            <a:avLst/>
          </a:prstGeom>
          <a:solidFill>
            <a:srgbClr val="F8F9F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92101" y="5552331"/>
            <a:ext cx="381000" cy="38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92101" y="6085731"/>
            <a:ext cx="3099048" cy="29527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92101" y="6507956"/>
            <a:ext cx="3099048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92101" y="6838057"/>
            <a:ext cx="3099048" cy="1895475"/>
          </a:xfrm>
          <a:prstGeom prst="rect">
            <a:avLst/>
          </a:prstGeom>
          <a:solidFill>
            <a:srgbClr val="181B2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98950" y="5298430"/>
            <a:ext cx="3664000" cy="3790504"/>
          </a:xfrm>
          <a:prstGeom prst="rect">
            <a:avLst/>
          </a:prstGeom>
          <a:solidFill>
            <a:srgbClr val="F8F9F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010001" y="5552331"/>
            <a:ext cx="381000" cy="38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010001" y="6085731"/>
            <a:ext cx="3099048" cy="29527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010001" y="6507956"/>
            <a:ext cx="3099048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010001" y="6838057"/>
            <a:ext cx="3099048" cy="1657350"/>
          </a:xfrm>
          <a:prstGeom prst="rect">
            <a:avLst/>
          </a:prstGeom>
          <a:solidFill>
            <a:srgbClr val="181B2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81050" y="9279434"/>
            <a:ext cx="7581900" cy="472976"/>
          </a:xfrm>
          <a:prstGeom prst="rect">
            <a:avLst/>
          </a:prstGeom>
          <a:solidFill>
            <a:srgbClr val="FFF3C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8382000" cy="438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高级用例与复杂工作流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🏗️ 大型系统重构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场景：微服务架构迁移，需要评估、规划、实施、测试全流程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工作流：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consensus: 架构决策讨论 (gpt-5 + gemini-pro)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analyze: 现有架构分析 + 依赖映射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planner: 分阶段迁移计划制定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refactor: 分步实施迁移代码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testgen: 测试用例生成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precommit: 变更验证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💡 价值：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避免单模型偏见，确保迁移方案的科学性和完整性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🔒 企业安全审计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场景：完整的应用安全评估，需要 OWASP Top 10 检查和深度渗透测试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工作流：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secaudit: OWASP Top 10 自动化扫描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tracer: 代码执行路径分析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thinkdeep: 高级威胁建模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consensus: 多模型安全评估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codereview: 安全代码审查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docgen: 安全报告生成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💡 价值：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多模型协同发现单模型可能遗漏的安全漏洞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🧪 实验性 AI 特性开发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场景：研究性项目，需要快速迭代、技术评估、用户反馈收集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工作流：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chat: 技术选型讨论 (o3 reasoning)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clink: 外部工具集成分析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thinkdeep: 风险评估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debug: 快速原型调试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analyze: 性能优化建议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consensus: 多模型验证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💡 价值：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利用不同模型专长，加速创新实验和风险控制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📊 数据科学项目协作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场景：复杂数据分析项目，需要统计建模、结果验证、业务理解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工作流：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thinkdeep: 数据探索策略规划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chat: 统计方法选择 (gemini-pro)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analyze: 代码质量评估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testgen: 模型验证测试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consensus: 结果解释验证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docgen: 可视化报告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💡 价值：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结合统计分析、编程实现、业务洞察的专业协作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98450" y="936575"/>
            <a:ext cx="7747099" cy="5143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高级用例与复杂工作流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98450" y="1641425"/>
            <a:ext cx="7747099" cy="40639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🏗️ 大型系统重构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场景：微服务架构迁移，需要评估、规划、实施、测试全流程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工作流：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consensus: 架构决策讨论 (gpt-5 + gemini-pro)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analyze: 现有架构分析 + 依赖映射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planner: 分阶段迁移计划制定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refactor: 分步实施迁移代码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testgen: 测试用例生成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precommit: 变更验证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💡 价值：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避免单模型偏见，确保迁移方案的科学性和完整性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🔒 企业安全审计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场景：完整的应用安全评估，需要 OWASP Top 10 检查和深度渗透测试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工作流：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secaudit: OWASP Top 10 自动化扫描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tracer: 代码执行路径分析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thinkdeep: 高级威胁建模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consensus: 多模型安全评估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codereview: 安全代码审查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docgen: 安全报告生成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💡 价值：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多模型协同发现单模型可能遗漏的安全漏洞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🧪 实验性 AI 特性开发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场景：研究性项目，需要快速迭代、技术评估、用户反馈收集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工作流：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chat: 技术选型讨论 (o3 reasoning)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clink: 外部工具集成分析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thinkdeep: 风险评估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debug: 快速原型调试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analyze: 性能优化建议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consensus: 多模型验证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💡 价值：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利用不同模型专长，加速创新实验和风险控制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📊 数据科学项目协作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场景：复杂数据分析项目，需要统计建模、结果验证、业务理解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工作流：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thinkdeep: 数据探索策略规划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chat: 统计方法选择 (gemini-pro)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analyze: 代码质量评估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testgen: 模型验证测试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consensus: 结果解释验证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docgen: 可视化报告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💡 价值：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结合统计分析、编程实现、业务洞察的专业协作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98450" y="1641425"/>
            <a:ext cx="3746599" cy="190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🏗️ 大型系统重构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场景：微服务架构迁移，需要评估、规划、实施、测试全流程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工作流：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consensus: 架构决策讨论 (gpt-5 + gemini-pro)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analyze: 现有架构分析 + 依赖映射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planner: 分阶段迁移计划制定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refactor: 分步实施迁移代码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testgen: 测试用例生成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precommit: 变更验证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💡 价值：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避免单模型偏见，确保迁移方案的科学性和完整性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2351" y="1895326"/>
            <a:ext cx="3238798" cy="2952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🏗️ 大型系统重构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52351" y="2343001"/>
            <a:ext cx="3238798" cy="6450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场景：微服务架构迁移，需要评估、规划、实施、测试全流程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52351" y="3140422"/>
            <a:ext cx="3238798" cy="24741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工作流：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consensus: 架构决策讨论 (gpt-5 + gemini-pro)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analyze: 现有架构分析 + 依赖映射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planner: 分阶段迁移计划制定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refactor: 分步实施迁移代码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testgen: 测试用例生成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precommit: 变更验证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52351" y="3140422"/>
            <a:ext cx="3238798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工作流：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52351" y="3470523"/>
            <a:ext cx="3238798" cy="21440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consensus: 架构决策讨论 (gpt-5 + gemini-pro)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analyze: 现有架构分析 + 依赖映射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planner: 分阶段迁移计划制定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refactor: 分步实施迁移代码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testgen: 测试用例生成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precommit: 变更验证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52351" y="3470523"/>
            <a:ext cx="3238798" cy="3045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consensus: 架构决策讨论 (gpt-5 + gemini-pro)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52351" y="3838426"/>
            <a:ext cx="3238798" cy="3045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analyze: 现有架构分析 + 依赖映射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52351" y="4206329"/>
            <a:ext cx="3238798" cy="3045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planner: 分阶段迁移计划制定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52351" y="4574232"/>
            <a:ext cx="3238798" cy="3045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refactor: 分步实施迁移代码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52351" y="4942136"/>
            <a:ext cx="3238798" cy="3045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testgen: 测试用例生成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52351" y="5310039"/>
            <a:ext cx="3238798" cy="3045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precommit: 变更验证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52351" y="5741491"/>
            <a:ext cx="3238798" cy="590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价值：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避免单模型偏见，确保迁移方案的科学性和完整性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53852" y="5842992"/>
            <a:ext cx="3035796" cy="1619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价值：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98950" y="1641425"/>
            <a:ext cx="3746599" cy="190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企业安全审计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场景：完整的应用安全评估，需要 OWASP Top 10 检查和深度渗透测试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工作流：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secaudit: OWASP Top 10 自动化扫描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tracer: 代码执行路径分析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thinkdeep: 高级威胁建模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consensus: 多模型安全评估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codereview: 安全代码审查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docgen: 安全报告生成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💡 价值：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多模型协同发现单模型可能遗漏的安全漏洞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52851" y="1895326"/>
            <a:ext cx="3238798" cy="2952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企业安全审计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52851" y="2343001"/>
            <a:ext cx="3238798" cy="6450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场景：完整的应用安全评估，需要 OWASP Top 10 检查和深度渗透测试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52851" y="3140422"/>
            <a:ext cx="3238798" cy="24741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工作流：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secaudit: OWASP Top 10 自动化扫描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tracer: 代码执行路径分析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thinkdeep: 高级威胁建模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consensus: 多模型安全评估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codereview: 安全代码审查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docgen: 安全报告生成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52851" y="3140422"/>
            <a:ext cx="3238798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工作流：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52851" y="3470523"/>
            <a:ext cx="3238798" cy="21440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secaudit: OWASP Top 10 自动化扫描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tracer: 代码执行路径分析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thinkdeep: 高级威胁建模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consensus: 多模型安全评估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codereview: 安全代码审查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docgen: 安全报告生成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52851" y="3470523"/>
            <a:ext cx="3238798" cy="3045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secaudit: OWASP Top 10 自动化扫描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52851" y="3838426"/>
            <a:ext cx="3238798" cy="3045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tracer: 代码执行路径分析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52851" y="4206329"/>
            <a:ext cx="3238798" cy="3045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thinkdeep: 高级威胁建模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52851" y="4574232"/>
            <a:ext cx="3238798" cy="3045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consensus: 多模型安全评估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52851" y="4942136"/>
            <a:ext cx="3238798" cy="3045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codereview: 安全代码审查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52851" y="5310039"/>
            <a:ext cx="3238798" cy="3045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docgen: 安全报告生成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52851" y="5741491"/>
            <a:ext cx="3238798" cy="590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价值：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多模型协同发现单模型可能遗漏的安全漏洞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54352" y="5842992"/>
            <a:ext cx="3035796" cy="1619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价值：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98450" y="3800326"/>
            <a:ext cx="3746599" cy="190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 实验性 AI 特性开发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场景：研究性项目，需要快速迭代、技术评估、用户反馈收集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工作流：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chat: 技术选型讨论 (o3 reasoning)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clink: 外部工具集成分析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thinkdeep: 风险评估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debug: 快速原型调试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analyze: 性能优化建议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consensus: 多模型验证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💡 价值：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利用不同模型专长，加速创新实验和风险控制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52351" y="4054227"/>
            <a:ext cx="3238798" cy="2952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 实验性 AI 特性开发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52351" y="4501902"/>
            <a:ext cx="3238798" cy="6450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场景：研究性项目，需要快速迭代、技术评估、用户反馈收集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52351" y="5299323"/>
            <a:ext cx="3238798" cy="24741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工作流：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chat: 技术选型讨论 (o3 reasoning)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clink: 外部工具集成分析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thinkdeep: 风险评估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debug: 快速原型调试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analyze: 性能优化建议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consensus: 多模型验证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52351" y="5299323"/>
            <a:ext cx="3238798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工作流：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52351" y="5629424"/>
            <a:ext cx="3238798" cy="21440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chat: 技术选型讨论 (o3 reasoning)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clink: 外部工具集成分析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thinkdeep: 风险评估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debug: 快速原型调试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analyze: 性能优化建议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consensus: 多模型验证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52351" y="5629424"/>
            <a:ext cx="3238798" cy="3045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chat: 技术选型讨论 (o3 reasoning)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52351" y="5997327"/>
            <a:ext cx="3238798" cy="3045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clink: 外部工具集成分析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52351" y="6365230"/>
            <a:ext cx="3238798" cy="3045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thinkdeep: 风险评估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52351" y="6733133"/>
            <a:ext cx="3238798" cy="3045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debug: 快速原型调试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52351" y="7101036"/>
            <a:ext cx="3238798" cy="3045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analyze: 性能优化建议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52351" y="7468939"/>
            <a:ext cx="3238798" cy="3045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consensus: 多模型验证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52351" y="7900392"/>
            <a:ext cx="3238798" cy="590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价值：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利用不同模型专长，加速创新实验和风险控制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53852" y="8001893"/>
            <a:ext cx="3035796" cy="1619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价值：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698950" y="3800326"/>
            <a:ext cx="3746599" cy="190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数据科学项目协作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场景：复杂数据分析项目，需要统计建模、结果验证、业务理解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工作流：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thinkdeep: 数据探索策略规划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chat: 统计方法选择 (gemini-pro)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analyze: 代码质量评估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testgen: 模型验证测试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consensus: 结果解释验证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docgen: 可视化报告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💡 价值：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结合统计分析、编程实现、业务洞察的专业协作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952851" y="4054227"/>
            <a:ext cx="3238798" cy="2952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数据科学项目协作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4952851" y="4501902"/>
            <a:ext cx="3238798" cy="6450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场景：复杂数据分析项目，需要统计建模、结果验证、业务理解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952851" y="5299323"/>
            <a:ext cx="3238798" cy="24741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工作流：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thinkdeep: 数据探索策略规划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chat: 统计方法选择 (gemini-pro)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analyze: 代码质量评估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testgen: 模型验证测试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consensus: 结果解释验证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docgen: 可视化报告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952851" y="5299323"/>
            <a:ext cx="3238798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工作流：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952851" y="5629424"/>
            <a:ext cx="3238798" cy="21440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thinkdeep: 数据探索策略规划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chat: 统计方法选择 (gemini-pro)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analyze: 代码质量评估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testgen: 模型验证测试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consensus: 结果解释验证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docgen: 可视化报告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952851" y="5629424"/>
            <a:ext cx="3238798" cy="3045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thinkdeep: 数据探索策略规划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952851" y="5997327"/>
            <a:ext cx="3238798" cy="3045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chat: 统计方法选择 (gemini-pro)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952851" y="6365230"/>
            <a:ext cx="3238798" cy="3045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analyze: 代码质量评估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952851" y="6733133"/>
            <a:ext cx="3238798" cy="3045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testgen: 模型验证测试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952851" y="7101036"/>
            <a:ext cx="3238798" cy="3045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consensus: 结果解释验证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952851" y="7468939"/>
            <a:ext cx="3238798" cy="3045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docgen: 可视化报告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952851" y="7900392"/>
            <a:ext cx="3238798" cy="590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价值：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结合统计分析、编程实现、业务洞察的专业协作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054352" y="8001893"/>
            <a:ext cx="3035796" cy="1619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价值：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81000" y="381000"/>
            <a:ext cx="8382000" cy="438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98450" y="1641425"/>
            <a:ext cx="7747099" cy="406390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98450" y="1641425"/>
            <a:ext cx="3746599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52351" y="1895326"/>
            <a:ext cx="3238798" cy="29527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52351" y="2343001"/>
            <a:ext cx="3238798" cy="64502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52351" y="3140422"/>
            <a:ext cx="3238798" cy="247411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52351" y="3140422"/>
            <a:ext cx="3238798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52351" y="3470523"/>
            <a:ext cx="3238798" cy="214401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52351" y="3470523"/>
            <a:ext cx="3238798" cy="30450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52351" y="3838426"/>
            <a:ext cx="3238798" cy="30450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52351" y="4206329"/>
            <a:ext cx="3238798" cy="30450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52351" y="4574232"/>
            <a:ext cx="3238798" cy="30450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52351" y="4942136"/>
            <a:ext cx="3238798" cy="30450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52351" y="5310039"/>
            <a:ext cx="3238798" cy="30450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52351" y="5741491"/>
            <a:ext cx="3238798" cy="590252"/>
          </a:xfrm>
          <a:prstGeom prst="rect">
            <a:avLst/>
          </a:prstGeom>
          <a:solidFill>
            <a:srgbClr val="F1C40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53852" y="5842992"/>
            <a:ext cx="3035796" cy="16192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698950" y="1641425"/>
            <a:ext cx="3746599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952851" y="1895326"/>
            <a:ext cx="3238798" cy="29527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952851" y="2343001"/>
            <a:ext cx="3238798" cy="64502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952851" y="3140422"/>
            <a:ext cx="3238798" cy="247411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952851" y="3140422"/>
            <a:ext cx="3238798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952851" y="3470523"/>
            <a:ext cx="3238798" cy="214401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952851" y="3470523"/>
            <a:ext cx="3238798" cy="30450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952851" y="3838426"/>
            <a:ext cx="3238798" cy="30450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952851" y="4206329"/>
            <a:ext cx="3238798" cy="30450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952851" y="4574232"/>
            <a:ext cx="3238798" cy="30450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952851" y="4942136"/>
            <a:ext cx="3238798" cy="30450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952851" y="5310039"/>
            <a:ext cx="3238798" cy="30450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952851" y="5741491"/>
            <a:ext cx="3238798" cy="590252"/>
          </a:xfrm>
          <a:prstGeom prst="rect">
            <a:avLst/>
          </a:prstGeom>
          <a:solidFill>
            <a:srgbClr val="F1C40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054352" y="5842992"/>
            <a:ext cx="3035796" cy="16192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98450" y="3800326"/>
            <a:ext cx="3746599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52351" y="4054227"/>
            <a:ext cx="3238798" cy="29527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52351" y="4501902"/>
            <a:ext cx="3238798" cy="64502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52351" y="5299323"/>
            <a:ext cx="3238798" cy="247411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952351" y="5299323"/>
            <a:ext cx="3238798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52351" y="5629424"/>
            <a:ext cx="3238798" cy="214401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52351" y="5629424"/>
            <a:ext cx="3238798" cy="30450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52351" y="5997327"/>
            <a:ext cx="3238798" cy="30450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52351" y="6365230"/>
            <a:ext cx="3238798" cy="30450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52351" y="6733133"/>
            <a:ext cx="3238798" cy="30450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52351" y="7101036"/>
            <a:ext cx="3238798" cy="30450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52351" y="7468939"/>
            <a:ext cx="3238798" cy="30450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52351" y="7900392"/>
            <a:ext cx="3238798" cy="590252"/>
          </a:xfrm>
          <a:prstGeom prst="rect">
            <a:avLst/>
          </a:prstGeom>
          <a:solidFill>
            <a:srgbClr val="F1C40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053852" y="8001893"/>
            <a:ext cx="3035796" cy="16192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698950" y="3800326"/>
            <a:ext cx="3746599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952851" y="4054227"/>
            <a:ext cx="3238798" cy="29527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952851" y="4501902"/>
            <a:ext cx="3238798" cy="64502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952851" y="5299323"/>
            <a:ext cx="3238798" cy="247411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952851" y="5299323"/>
            <a:ext cx="3238798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952851" y="5629424"/>
            <a:ext cx="3238798" cy="214401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952851" y="5629424"/>
            <a:ext cx="3238798" cy="30450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952851" y="5997327"/>
            <a:ext cx="3238798" cy="30450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952851" y="6365230"/>
            <a:ext cx="3238798" cy="30450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952851" y="6733133"/>
            <a:ext cx="3238798" cy="30450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952851" y="7101036"/>
            <a:ext cx="3238798" cy="30450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952851" y="7468939"/>
            <a:ext cx="3238798" cy="30450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952851" y="7900392"/>
            <a:ext cx="3238798" cy="590252"/>
          </a:xfrm>
          <a:prstGeom prst="rect">
            <a:avLst/>
          </a:prstGeom>
          <a:solidFill>
            <a:srgbClr val="F1C40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054352" y="8001893"/>
            <a:ext cx="3035796" cy="16192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450" y="317450"/>
            <a:ext cx="8509099" cy="45085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生态系统与平台集成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💻 CLI 工具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Claude Code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Gemini CLI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Codex CLI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Qwen CLI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原生支持主流 AI CLI 工具，通过 MCP 协议无缝集成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集成方式：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MCP 服务器注册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环境变量配置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工具自动发现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上下文管理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🛠️ IDE 集成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Cursor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VS Code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JetBrains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IDE 扩展和插件支持，在编辑器内直接使用多模型协作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集成方式：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扩展商店安装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工作区配置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快捷键触发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内嵌对话窗口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☁️ 云平台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Azure OpenAI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OpenRouter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Ollama Cloud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支持企业级部署，云原生架构，高可用性保障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部署方式：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Docker 容器化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K8s 编排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服务网格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CI/CD 集成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🚀 支持热插拔：随时添加新模型、新工具，无需重启系统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34901" y="856059"/>
            <a:ext cx="7874198" cy="476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生态系统与平台集成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34901" y="1522809"/>
            <a:ext cx="7874198" cy="43179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CLI 工具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Claude Code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Gemini CLI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Codex CLI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Qwen CLI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原生支持主流 AI CLI 工具，通过 MCP 协议无缝集成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集成方式：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MCP 服务器注册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环境变量配置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工具自动发现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上下文管理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🛠️ IDE 集成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Cursor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VS Code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JetBrains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IDE 扩展和插件支持，在编辑器内直接使用多模型协作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集成方式：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扩展商店安装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工作区配置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快捷键触发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内嵌对话窗口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☁️ 云平台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Azure OpenAI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OpenRouter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Ollama Cloud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支持企业级部署，云原生架构，高可用性保障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部署方式：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Docker 容器化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K8s 编排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服务网格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CI/CD 集成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522809"/>
            <a:ext cx="2472333" cy="43179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CLI 工具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Claude Code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Gemini CLI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Codex CLI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Qwen CLI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原生支持主流 AI CLI 工具，通过 MCP 协议无缝集成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集成方式：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MCP 服务器注册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环境变量配置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工具自动发现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上下文管理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44451" y="1732359"/>
            <a:ext cx="2053233" cy="2571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CLI 工具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4451" y="2141934"/>
            <a:ext cx="2053233" cy="11459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Gemini CLI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Codex CLI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Qwen CLI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46448" y="2141934"/>
            <a:ext cx="1049089" cy="3143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98178" y="2557760"/>
            <a:ext cx="943273" cy="3143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CLI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42951" y="2557760"/>
            <a:ext cx="900857" cy="3143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 CLI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41698" y="2973586"/>
            <a:ext cx="858589" cy="3143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 CLI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44451" y="3478411"/>
            <a:ext cx="2053233" cy="3554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原生支持主流 AI CLI 工具，通过 MCP 协议无缝集成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44451" y="3986213"/>
            <a:ext cx="2053233" cy="13808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集成方式：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MCP 服务器注册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环境变量配置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工具自动发现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上下文管理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80926" y="4122688"/>
            <a:ext cx="1780282" cy="1809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集成方式：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80926" y="4379863"/>
            <a:ext cx="1780282" cy="1619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服务器注册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80926" y="4592538"/>
            <a:ext cx="1780282" cy="1619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环境变量配置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80926" y="4805214"/>
            <a:ext cx="1780282" cy="1619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工具自动发现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80926" y="5017889"/>
            <a:ext cx="1780282" cy="1619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上下文管理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35834" y="1522809"/>
            <a:ext cx="2472333" cy="43179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 IDE 集成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Cursor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VS Code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JetBrains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IDE 扩展和插件支持，在编辑器内直接使用多模型协作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集成方式：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扩展商店安装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工作区配置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快捷键触发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内嵌对话窗口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45384" y="1732359"/>
            <a:ext cx="2053233" cy="2571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 IDE 集成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545384" y="2141934"/>
            <a:ext cx="2053233" cy="7301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VS Code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JetBrains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779044" y="2141934"/>
            <a:ext cx="689223" cy="3143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69768" y="2141934"/>
            <a:ext cx="795040" cy="3143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46054" y="2557760"/>
            <a:ext cx="851743" cy="3143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JetBrains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545384" y="3062585"/>
            <a:ext cx="2053233" cy="3554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 扩展和插件支持，在编辑器内直接使用多模型协作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45384" y="3570387"/>
            <a:ext cx="2053233" cy="13808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集成方式：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扩展商店安装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工作区配置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快捷键触发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内嵌对话窗口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81859" y="3706862"/>
            <a:ext cx="1780282" cy="1809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集成方式：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81859" y="3964037"/>
            <a:ext cx="1780282" cy="1619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扩展商店安装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81859" y="4176712"/>
            <a:ext cx="1780282" cy="1619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工作区配置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81859" y="4389388"/>
            <a:ext cx="1780282" cy="1619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快捷键触发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81859" y="4602063"/>
            <a:ext cx="1780282" cy="1619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内嵌对话窗口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36766" y="1522809"/>
            <a:ext cx="2472333" cy="43179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☁️ 云平台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Azure OpenAI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OpenRouter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Ollama Cloud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支持企业级部署，云原生架构，高可用性保障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部署方式：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Docker 容器化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K8s 编排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服务网格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CI/CD 集成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46316" y="1732359"/>
            <a:ext cx="2053233" cy="2571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☁️ 云平台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246316" y="2141934"/>
            <a:ext cx="2053233" cy="11459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OpenAI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OpenRouter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Ollama Cloud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16613" y="2141934"/>
            <a:ext cx="1112490" cy="3143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OpenAI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769596" y="2557760"/>
            <a:ext cx="1006673" cy="3143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OpenRouter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727180" y="2973586"/>
            <a:ext cx="1091357" cy="3143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Cloud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46316" y="3478411"/>
            <a:ext cx="2053233" cy="3554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支持企业级部署，云原生架构，高可用性保障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46316" y="3986213"/>
            <a:ext cx="2053233" cy="13808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部署方式：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Docker 容器化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K8s 编排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服务网格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CI/CD 集成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382792" y="4122688"/>
            <a:ext cx="1780282" cy="1809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部署方式：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382792" y="4379863"/>
            <a:ext cx="1780282" cy="1619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容器化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382792" y="4592538"/>
            <a:ext cx="1780282" cy="1619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K8s 编排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382792" y="4805214"/>
            <a:ext cx="1780282" cy="1619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服务网格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382792" y="5017889"/>
            <a:ext cx="1780282" cy="1619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集成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34901" y="6031260"/>
            <a:ext cx="7874198" cy="4857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支持热插拔：随时添加新模型、新工具，无需重启系统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17450" y="317450"/>
            <a:ext cx="8509099" cy="45085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4901" y="1522809"/>
            <a:ext cx="7874198" cy="431795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4901" y="1522809"/>
            <a:ext cx="2472333" cy="4317950"/>
          </a:xfrm>
          <a:prstGeom prst="rect">
            <a:avLst/>
          </a:prstGeom>
          <a:solidFill>
            <a:srgbClr val="F8F9F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44451" y="1732359"/>
            <a:ext cx="2053233" cy="25717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44451" y="2141934"/>
            <a:ext cx="2053233" cy="114597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346448" y="2141934"/>
            <a:ext cx="1049089" cy="31432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98178" y="2557760"/>
            <a:ext cx="943273" cy="31432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942951" y="2557760"/>
            <a:ext cx="900857" cy="31432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441698" y="2973586"/>
            <a:ext cx="858589" cy="31432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44451" y="3478411"/>
            <a:ext cx="2053233" cy="35540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44451" y="3986213"/>
            <a:ext cx="2053233" cy="1380827"/>
          </a:xfrm>
          <a:prstGeom prst="rect">
            <a:avLst/>
          </a:prstGeom>
          <a:solidFill>
            <a:srgbClr val="F0F9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80926" y="4122688"/>
            <a:ext cx="1780282" cy="18097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80926" y="4379863"/>
            <a:ext cx="1780282" cy="16192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80926" y="4592538"/>
            <a:ext cx="1780282" cy="16192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80926" y="4805214"/>
            <a:ext cx="1780282" cy="16192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80926" y="5017889"/>
            <a:ext cx="1780282" cy="16192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335834" y="1522809"/>
            <a:ext cx="2472333" cy="4317950"/>
          </a:xfrm>
          <a:prstGeom prst="rect">
            <a:avLst/>
          </a:prstGeom>
          <a:solidFill>
            <a:srgbClr val="F8F9F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545384" y="1732359"/>
            <a:ext cx="2053233" cy="25717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545384" y="2141934"/>
            <a:ext cx="2053233" cy="73015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779044" y="2141934"/>
            <a:ext cx="689223" cy="31432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569768" y="2141934"/>
            <a:ext cx="795040" cy="314325"/>
          </a:xfrm>
          <a:prstGeom prst="rect">
            <a:avLst/>
          </a:prstGeom>
          <a:solidFill>
            <a:srgbClr val="007AC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146054" y="2557760"/>
            <a:ext cx="851743" cy="314325"/>
          </a:xfrm>
          <a:prstGeom prst="rect">
            <a:avLst/>
          </a:prstGeom>
          <a:solidFill>
            <a:srgbClr val="0078D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545384" y="3062585"/>
            <a:ext cx="2053233" cy="35540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545384" y="3570387"/>
            <a:ext cx="2053233" cy="1380827"/>
          </a:xfrm>
          <a:prstGeom prst="rect">
            <a:avLst/>
          </a:prstGeom>
          <a:solidFill>
            <a:srgbClr val="F0F9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681859" y="3706862"/>
            <a:ext cx="1780282" cy="18097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681859" y="3964037"/>
            <a:ext cx="1780282" cy="16192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681859" y="4176712"/>
            <a:ext cx="1780282" cy="16192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681859" y="4389388"/>
            <a:ext cx="1780282" cy="16192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681859" y="4602063"/>
            <a:ext cx="1780282" cy="16192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036766" y="1522809"/>
            <a:ext cx="2472333" cy="4317950"/>
          </a:xfrm>
          <a:prstGeom prst="rect">
            <a:avLst/>
          </a:prstGeom>
          <a:solidFill>
            <a:srgbClr val="F8F9F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246316" y="1732359"/>
            <a:ext cx="2053233" cy="25717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246316" y="2141934"/>
            <a:ext cx="2053233" cy="114597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716613" y="2141934"/>
            <a:ext cx="1112490" cy="314325"/>
          </a:xfrm>
          <a:prstGeom prst="rect">
            <a:avLst/>
          </a:prstGeom>
          <a:solidFill>
            <a:srgbClr val="0078D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769596" y="2557760"/>
            <a:ext cx="1006673" cy="314325"/>
          </a:xfrm>
          <a:prstGeom prst="rect">
            <a:avLst/>
          </a:prstGeom>
          <a:solidFill>
            <a:srgbClr val="1F293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27180" y="2973586"/>
            <a:ext cx="1091357" cy="314325"/>
          </a:xfrm>
          <a:prstGeom prst="rect">
            <a:avLst/>
          </a:prstGeom>
          <a:solidFill>
            <a:srgbClr val="18181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246316" y="3478411"/>
            <a:ext cx="2053233" cy="35540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246316" y="3986213"/>
            <a:ext cx="2053233" cy="1380827"/>
          </a:xfrm>
          <a:prstGeom prst="rect">
            <a:avLst/>
          </a:prstGeom>
          <a:solidFill>
            <a:srgbClr val="F0F9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382792" y="4122688"/>
            <a:ext cx="1780282" cy="18097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382792" y="4379863"/>
            <a:ext cx="1780282" cy="16192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382792" y="4592538"/>
            <a:ext cx="1780282" cy="16192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382792" y="4805214"/>
            <a:ext cx="1780282" cy="16192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382792" y="5017889"/>
            <a:ext cx="1780282" cy="16192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34901" y="6031260"/>
            <a:ext cx="7874198" cy="48577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8382000" cy="4381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总结与展望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🎯 核心价值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突破单一模型局限，实现真正的 AI 协作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智能编排，提升开发效率和代码质量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上下文连续性，保持完整的对话流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专业工作流，覆盖完整开发生命周期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🚀 技术优势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MCP 协议标准实现，生态兼容性良好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模块化架构设计，易于扩展和维护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cli-cli 桥接创新，增强工具协作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企业级部署方案，支持大规模使用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📈 未来发展路线图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短期 (Q1-Q2)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• 更多模型支持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• 性能优化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• 文档完善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中期 (Q3-Q4)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• 插件生态系统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• 企业功能增强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• 社区驱动开发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长期 (1-2年)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• AI 工具标准化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• 跨平台集成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• 行业解决方案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🤝 加入 Zen MCP 社区，体验真正的多模型协作开发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GitHub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文档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社区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1034207"/>
            <a:ext cx="7620000" cy="5810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总结与展望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62000" y="1869132"/>
            <a:ext cx="7620000" cy="30447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核心价值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突破单一模型局限，实现真正的 AI 协作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智能编排，提升开发效率和代码质量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上下文连续性，保持完整的对话流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专业工作流，覆盖完整开发生命周期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🚀 技术优势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MCP 协议标准实现，生态兼容性良好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模块化架构设计，易于扩展和维护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cli-cli 桥接创新，增强工具协作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企业级部署方案，支持大规模使用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62000" y="1869132"/>
            <a:ext cx="3683050" cy="30447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核心价值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突破单一模型局限，实现真正的 AI 协作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智能编排，提升开发效率和代码质量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上下文连续性，保持完整的对话流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专业工作流，覆盖完整开发生命周期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34951" y="2142083"/>
            <a:ext cx="3137148" cy="2952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核心价值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34951" y="2589758"/>
            <a:ext cx="3137148" cy="18987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突破单一模型局限，实现真正的 AI 协作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智能编排，提升开发效率和代码质量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上下文连续性，保持完整的对话流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专业工作流，覆盖完整开发生命周期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98950" y="1869132"/>
            <a:ext cx="3683050" cy="30447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技术优势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MCP 协议标准实现，生态兼容性良好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模块化架构设计，易于扩展和维护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cli-cli 桥接创新，增强工具协作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企业级部署方案，支持大规模使用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71901" y="2142083"/>
            <a:ext cx="3137148" cy="2952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技术优势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71901" y="2589758"/>
            <a:ext cx="3137148" cy="18987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协议标准实现，生态兼容性良好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模块化架构设计，易于扩展和维护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cli-cli 桥接创新，增强工具协作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企业级部署方案，支持大规模使用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2000" y="5167759"/>
            <a:ext cx="7620000" cy="21359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未来发展路线图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短期 (Q1-Q2)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• 更多模型支持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• 性能优化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• 文档完善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中期 (Q3-Q4)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• 插件生态系统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• 企业功能增强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• 社区驱动开发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长期 (1-2年)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• AI 工具标准化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• 跨平台集成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• 行业解决方案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15901" y="5421660"/>
            <a:ext cx="7112198" cy="3333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未来发展路线图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15901" y="5945535"/>
            <a:ext cx="7112198" cy="11043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短期 (Q1-Q2)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• 更多模型支持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• 性能优化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• 文档完善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中期 (Q3-Q4)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• 插件生态系统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• 企业功能增强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• 社区驱动开发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长期 (1-2年)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• AI 工具标准化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• 跨平台集成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• 行业解决方案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15901" y="5945535"/>
            <a:ext cx="2243733" cy="11043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短期 (Q1-Q2)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• 更多模型支持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• 性能优化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• 文档完善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68301" y="6097935"/>
            <a:ext cx="1938933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短期 (Q1-Q2)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68301" y="6402735"/>
            <a:ext cx="1938933" cy="4947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更多模型支持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• 性能优化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• 文档完善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50134" y="5945535"/>
            <a:ext cx="2243733" cy="11043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中期 (Q3-Q4)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• 插件生态系统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• 企业功能增强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• 社区驱动开发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02534" y="6097935"/>
            <a:ext cx="1938933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中期 (Q3-Q4)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02534" y="6402735"/>
            <a:ext cx="1938933" cy="4947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插件生态系统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• 企业功能增强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• 社区驱动开发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84366" y="5945535"/>
            <a:ext cx="2243733" cy="11043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长期 (1-2年)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• AI 工具标准化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• 跨平台集成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• 行业解决方案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36766" y="6097935"/>
            <a:ext cx="1938933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长期 (1-2年)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36766" y="6402735"/>
            <a:ext cx="1938933" cy="4947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工具标准化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• 跨平台集成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• 行业解决方案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62000" y="7557641"/>
            <a:ext cx="7620000" cy="9682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加入 Zen MCP 社区，体验真正的多模型协作开发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GitHub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文档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社区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52500" y="7748141"/>
            <a:ext cx="7239000" cy="2571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加入 Zen MCP 社区，体验真正的多模型协作开发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52500" y="8106817"/>
            <a:ext cx="72390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文档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社区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81000" y="381000"/>
            <a:ext cx="8382000" cy="438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2000" y="1869132"/>
            <a:ext cx="7620000" cy="304472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2000" y="1869132"/>
            <a:ext cx="3683050" cy="304472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34951" y="2142083"/>
            <a:ext cx="3137148" cy="29527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98950" y="1869132"/>
            <a:ext cx="3683050" cy="304472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71901" y="2142083"/>
            <a:ext cx="3137148" cy="29527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2000" y="5167759"/>
            <a:ext cx="7620000" cy="213598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15901" y="5421660"/>
            <a:ext cx="7112198" cy="33337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15901" y="5945535"/>
            <a:ext cx="7112198" cy="110430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15901" y="5945535"/>
            <a:ext cx="2243733" cy="110430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68301" y="6097935"/>
            <a:ext cx="1938933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68301" y="6402735"/>
            <a:ext cx="1938933" cy="49470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450134" y="5945535"/>
            <a:ext cx="2243733" cy="110430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02534" y="6097935"/>
            <a:ext cx="1938933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02534" y="6402735"/>
            <a:ext cx="1938933" cy="49470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884366" y="5945535"/>
            <a:ext cx="2243733" cy="110430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6766" y="6097935"/>
            <a:ext cx="1938933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036766" y="6402735"/>
            <a:ext cx="1938933" cy="49470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62000" y="7557641"/>
            <a:ext cx="7620000" cy="96827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52500" y="7748141"/>
            <a:ext cx="7239000" cy="25717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52500" y="8106817"/>
            <a:ext cx="723900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Beehive Innovations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Zen MCP: Many Workflows. One Context.</dc:title>
  <dc:subject>Complete Introduction to Zen MCP Server</dc:subject>
  <dc:creator>Zen MCP Server Team</dc:creator>
  <cp:lastModifiedBy>Zen MCP Server Team</cp:lastModifiedBy>
  <cp:revision>1</cp:revision>
  <dcterms:created xsi:type="dcterms:W3CDTF">2025-12-02T17:13:01Z</dcterms:created>
  <dcterms:modified xsi:type="dcterms:W3CDTF">2025-12-02T17:13:01Z</dcterms:modified>
</cp:coreProperties>
</file>